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seca, 15s. Nome, contexto ('uso IA no dia a dia pra desenvolver') e direto pro slide 2. Nao anunciar agenda.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Avancar linha a linha se usar build; senao, percorrer com o cursor/voz. Pergunta retorica, tom de cumplicidade ('eu vivi esse loop').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Unica interacao da talk - orcar 60-90s reais (latencia de call + ler respostas). O loop do slide 2 e o sintoma do L2. A maioria da plateia deve estar entre L2 e L3 - por isso os dois marcados. Guardar os niveis do chat pro callback do fecho. FALLBACK se ninguem responder ou ninguem for L2: 'pros que se reconheceram no slide anterior, a proxima sessao e pra voces'. 'Pra sentir controle' e fala, nao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do curso. Sem numeros de produtividade - sem fonte. ~30s.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3s de silencio depois de ler. Contrato da talk. Fim do bloco 1 (~4 min + interacao).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Termo novo n1 (LLM). Nao usar a palavra 'token' na talk inteira. ~30s.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real de um chat sem acesso ao repo - nunca rodar ao vivo. 'O modelo nao e burro - e cego.' Ponte: 'o que resolve isso tem nome'. ~30s.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Termo novo n2, slide so dele. Falar (nao escrever): 'ele le o arquivo, edita, roda o teste - e tenta de novo'. Claude Code, Cursor, Copilot = harnesses. A equacao entra por ultimo (build); daqui em diante 'agente' e livre.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ancora - vai ser esticada no slide 12. Fim do bloco 2 (~3,5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Terminologia do curso (feedforward). Exemplo falado: AGENTS.md com comandos e convencoes do projeto.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Plantar aqui a frase do CI - o fecho vira callback. Falar: 'o erro e corrigido antes de chegar em voce'.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Termo novo n3. PONTE FALADA vindo do slide anterior: 'guias e sensores sao texto - e texto ocupa o mesmo espaco que o codigo, na janela de contexto'. Dai a definicao, dai as barras. 'Contexto de 1M' e marketing. ~1 min. FECHO FALADO do bloco 3 (substitui o slide cortado): 'contexto e recurso escasso - e quem gerencia guias, sensores e contexto ao longo de uma feature inteira?' -&gt; proximo slide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devagar. A ancoragem no processo humano desarma o estranhamento do termo. A linha final e a resposta a objecao 'entao a solucao pra quem aprova demais e aprovar tudo?' - o Baba aprova cada passo do como; no SDD voce aprova o que e o plano em poucos checkpoints.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fase a fase se possivel; testar no software de call real. Falar, sem slide: 'nao e invencao minha - o Spec Kit do GitHub e o superpowers seguem o mesmo padrao'.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builds - a definicao de skill (ultimo termo novo) entra sozinha, senao passa despercebida. Se apertar: so as 2 primeiras linhas.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 real de example/tasks/01-painel-clima/prd.md (repo r-spec). Frase unica do r-spec: 'a implementacao que eu uso no dia a dia - o padrao e o mesmo em qualquer uma'.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 real de techspec.md. E o 'como' aprovado antes do codigo: arquitetura, decisoes e trade-offs registrados - da pra discordar da decisao ANTES de ela virar 30 arquivos. A techspec tambem lista interfaces, endpoints, testes e riscos.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 de 01_task.md - granularidade real, com subtask de teste explicita. E isso que separa de um TODO num gist: cada task tem requisitos, criterios de sucesso e testes proprios, aprovados antes de codar. Se apertar: 15s e segue. ~40s.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Climax do bloco 4. Se alguem apontar 'severidade Media pra algo que quebra deploy?': 'media porque e config, nao logica - e e exatamente por isso que o artefato existe: voce discorda da severidade ANTES do merge'. Fim do bloco (~6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vao fotografar - titulo carrega a tese. Callback do CI plantado no slide de sensores.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final: r-spec e a implementacao da demo - repo aberto, MIT, portavel entre harnesses (spec agentskills.io). Callback do chat (fallback: 'pros que se reconheceram no slide 2'). Encerrar com a tarefa e abrir pra perguntas - objecoes preparadas no roteiro do vault. ~45s.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317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 no código gerado por I.A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6576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"ajusta isso, ajusta aquilo" </a:t>
            </a:r>
            <a:pPr algn="ctr" indent="0" marL="0">
              <a:buNone/>
            </a:pPr>
            <a:r>
              <a:rPr lang="en-US" sz="2000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processo que verifica por você.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 DOR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cena é familiar?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77640" y="19476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quase certo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977640" y="26060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29169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isso…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977640" y="32644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35753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aquilo…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977640" y="392277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42336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77640" y="45811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48920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 o modo em que ele planeja antes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77640" y="52395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55504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não saiu como esperado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 DOR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5 níveis de adoção de I.A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572768"/>
            <a:ext cx="10515600" cy="658368"/>
          </a:xfrm>
          <a:prstGeom prst="roundRect">
            <a:avLst>
              <a:gd name="adj" fmla="val 9722"/>
            </a:avLst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70078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168249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06240" y="1709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I.A no fluxo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359152"/>
            <a:ext cx="10515600" cy="658368"/>
          </a:xfrm>
          <a:prstGeom prst="roundRect">
            <a:avLst>
              <a:gd name="adj" fmla="val 9722"/>
            </a:avLst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4871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4688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Copy/Paste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06240" y="249631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 do chat, autocomplete ocasional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145536"/>
            <a:ext cx="10515600" cy="658368"/>
          </a:xfrm>
          <a:prstGeom prst="roundRect">
            <a:avLst>
              <a:gd name="adj" fmla="val 9722"/>
            </a:avLst>
          </a:prstGeom>
          <a:solidFill>
            <a:srgbClr val="16324A"/>
          </a:solidFill>
          <a:ln w="15875">
            <a:solidFill>
              <a:srgbClr val="3ED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27355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D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2552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06240" y="328269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cada passo; passa o tempo esperando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3931920"/>
            <a:ext cx="10515600" cy="658368"/>
          </a:xfrm>
          <a:prstGeom prst="roundRect">
            <a:avLst>
              <a:gd name="adj" fmla="val 9722"/>
            </a:avLst>
          </a:prstGeom>
          <a:solidFill>
            <a:srgbClr val="16324A"/>
          </a:solidFill>
          <a:ln w="15875">
            <a:solidFill>
              <a:srgbClr val="3ED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05993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D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40416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06240" y="40690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plano, revisa o PR final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718304"/>
            <a:ext cx="10515600" cy="658368"/>
          </a:xfrm>
          <a:prstGeom prst="roundRect">
            <a:avLst>
              <a:gd name="adj" fmla="val 9722"/>
            </a:avLst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463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482803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206240" y="485546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Pipelines autônomos pra fluxos repetíveis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 no chat: </a:t>
            </a:r>
            <a:pPr algn="ctr" indent="0" marL="0">
              <a:buNone/>
            </a:pPr>
            <a:r>
              <a:rPr lang="en-US" sz="1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que nível você está?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 DOR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escrito por I.A </a:t>
            </a:r>
            <a:pPr algn="ctr" indent="0" marL="0">
              <a:buNone/>
            </a:pPr>
            <a:r>
              <a:rPr lang="en-US" sz="3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≠ produtividade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463040" y="3063240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Especialmente quando a maior parte do tempo é gasta parado, vendo a I.A escrever.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977640"/>
            <a:ext cx="9262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resultado diz mais sobre </a:t>
            </a:r>
            <a:pPr algn="ctr" indent="0" marL="0">
              <a:buNone/>
            </a:pPr>
            <a:r>
              <a:rPr lang="en-US" sz="20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você usa</a:t>
            </a:r>
            <a:pPr algn="ctr" indent="0" marL="0">
              <a:buNone/>
            </a:pPr>
            <a:r>
              <a:rPr lang="en-US" sz="20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que sobre o que a I.A consegue fazer.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</a:t>
            </a:r>
            <a:pPr algn="ctr" indent="0" marL="0">
              <a:buNone/>
            </a:pPr>
            <a:r>
              <a:rPr lang="en-US" sz="36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a confiança</a:t>
            </a:r>
            <a:pPr algn="ctr" indent="0" marL="0">
              <a:buNone/>
            </a:pPr>
            <a:r>
              <a:rPr lang="en-US" sz="36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resultado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31012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</a:t>
            </a:r>
            <a:pPr algn="ctr" indent="0" marL="0">
              <a:buNone/>
            </a:pPr>
            <a:r>
              <a:rPr lang="en-US" sz="3600" b="1" dirty="0">
                <a:solidFill>
                  <a:srgbClr val="4D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a supervisão</a:t>
            </a:r>
            <a:pPr algn="ctr" indent="0" marL="0">
              <a:buNone/>
            </a:pPr>
            <a:r>
              <a:rPr lang="en-US" sz="36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POR QUE CHUTA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LLM não sabe que seu repo existe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indent="0" marL="0">
              <a:buNone/>
            </a:pPr>
            <a:r>
              <a:rPr lang="en-US" sz="22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gerador de texto</a:t>
            </a:r>
            <a:pPr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prevê a continuação mais provável do que recebeu.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200400" cy="1051560"/>
          </a:xfrm>
          <a:prstGeom prst="roundRect">
            <a:avLst>
              <a:gd name="adj" fmla="val 7826"/>
            </a:avLst>
          </a:prstGeom>
          <a:solidFill>
            <a:srgbClr val="111D2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38328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estado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480560" y="3383280"/>
            <a:ext cx="3200400" cy="1051560"/>
          </a:xfrm>
          <a:prstGeom prst="roundRect">
            <a:avLst>
              <a:gd name="adj" fmla="val 7826"/>
            </a:avLst>
          </a:prstGeom>
          <a:solidFill>
            <a:srgbClr val="111D2E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338328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memória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138160" y="3383280"/>
            <a:ext cx="3200400" cy="1051560"/>
          </a:xfrm>
          <a:prstGeom prst="roundRect">
            <a:avLst>
              <a:gd name="adj" fmla="val 7826"/>
            </a:avLst>
          </a:prstGeom>
          <a:solidFill>
            <a:srgbClr val="111D2E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338328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POR QUE CHUTA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828800"/>
            <a:ext cx="10241280" cy="2788920"/>
          </a:xfrm>
          <a:prstGeom prst="roundRect">
            <a:avLst>
              <a:gd name="adj" fmla="val 3279"/>
            </a:avLst>
          </a:prstGeom>
          <a:solidFill>
            <a:srgbClr val="000000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6" name="Image 0" descr="pro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029968"/>
            <a:ext cx="9784080" cy="24323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074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 ao repo, resta pedir: </a:t>
            </a:r>
            <a:pPr algn="ctr" indent="0" marL="0">
              <a:buNone/>
            </a:pPr>
            <a:r>
              <a:rPr lang="en-US" sz="1800" i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"envie o trecho do código que eu corrijo o bug."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POR QUE CHUTA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software </a:t>
            </a:r>
            <a:pPr indent="0" marL="0">
              <a:buNone/>
            </a:pPr>
            <a:r>
              <a:rPr lang="en-US" sz="24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redor</a:t>
            </a:r>
            <a:pPr indent="0" marL="0">
              <a:buNone/>
            </a:pPr>
            <a:r>
              <a:rPr lang="en-US" sz="2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modelo.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11D2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6974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 para o modelo como o </a:t>
            </a:r>
            <a:pPr indent="0" marL="0">
              <a:buNone/>
            </a:pPr>
            <a:r>
              <a:rPr lang="en-US" sz="1900" b="1" dirty="0">
                <a:solidFill>
                  <a:srgbClr val="4D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 de CI</a:t>
            </a:r>
            <a:pPr indent="0" marL="0">
              <a:buNone/>
            </a:pPr>
            <a:r>
              <a:rPr lang="en-US" sz="19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está para o seu script: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acesso ao repo, executa comandos, devolve o resultado.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Modelo = </a:t>
            </a:r>
            <a:pPr algn="ctr" indent="0" marL="0">
              <a:buNone/>
            </a:pPr>
            <a:r>
              <a:rPr lang="en-US" sz="2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código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POR QUE CHUTA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acesso não basta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vago → o agente decide pelo </a:t>
            </a:r>
            <a:pPr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de treinamento</a:t>
            </a:r>
            <a:pPr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pelas </a:t>
            </a:r>
            <a:pPr indent="0" marL="0">
              <a:buNone/>
            </a:pPr>
            <a:r>
              <a:rPr lang="en-US" sz="22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suas convenções</a:t>
            </a:r>
            <a:pPr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10515600" cy="1737360"/>
          </a:xfrm>
          <a:prstGeom prst="roundRect">
            <a:avLst>
              <a:gd name="adj" fmla="val 4737"/>
            </a:avLst>
          </a:prstGeom>
          <a:solidFill>
            <a:srgbClr val="111D2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4747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≈ o que cabe na mesa do revisor.
</a:t>
            </a:r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gaveta inteira, ele se perde; a pasta certa, ele acerta.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GUIAS E SENSORES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Guias — antecipam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Direcionam o agente antes de agir: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11D2E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e padrões de código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11D2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 pastas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33756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11D2E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Blueprints de arquitetura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17920" y="3337560"/>
            <a:ext cx="5074920" cy="822960"/>
          </a:xfrm>
          <a:prstGeom prst="roundRect">
            <a:avLst>
              <a:gd name="adj" fmla="val 8889"/>
            </a:avLst>
          </a:prstGeom>
          <a:solidFill>
            <a:srgbClr val="111D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Anti-padrões ("nunca faça X")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Aumentam o acerto </a:t>
            </a:r>
            <a:pPr indent="0" marL="0">
              <a:buNone/>
            </a:pPr>
            <a:r>
              <a:rPr lang="en-US" sz="20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primeira tentativa.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GUIAS E SENSORES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Sensores — verificam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Observam o resultado depois que o agente age: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11D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automatizados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34840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11D2E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Linter, compilador, typecheck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11D2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0" y="2286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Browser, logs, banco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206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Sensores são o seu </a:t>
            </a:r>
            <a:pPr algn="ctr" indent="0" marL="0">
              <a:buNone/>
            </a:pPr>
            <a:r>
              <a:rPr lang="en-US" sz="2400" b="1" dirty="0">
                <a:solidFill>
                  <a:srgbClr val="4D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apontado pro agente</a:t>
            </a:r>
            <a:pPr algn="ctr" indent="0" marL="0">
              <a:buNone/>
            </a:pPr>
            <a:r>
              <a:rPr lang="en-US" sz="2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GUIAS E SENSORES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cheia a janela, pior o resultado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de contexto</a:t>
            </a:r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tudo que o modelo considera de uma vez — regras, logs de teste, código, conversa.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2529368"/>
            <a:ext cx="1371600" cy="2179792"/>
          </a:xfrm>
          <a:prstGeom prst="rect">
            <a:avLst/>
          </a:prstGeom>
          <a:solidFill>
            <a:srgbClr val="3ED6C4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45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97,3%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2588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4–8K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50749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 da janela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782519"/>
            <a:ext cx="1371600" cy="1926641"/>
          </a:xfrm>
          <a:prstGeom prst="rect">
            <a:avLst/>
          </a:prstGeom>
          <a:solidFill>
            <a:srgbClr val="9BD770"/>
          </a:solidFill>
          <a:ln/>
        </p:spPr>
      </p:sp>
      <p:sp>
        <p:nvSpPr>
          <p:cNvPr id="11" name="Text 9"/>
          <p:cNvSpPr/>
          <p:nvPr/>
        </p:nvSpPr>
        <p:spPr>
          <a:xfrm>
            <a:off x="3794760" y="239847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86,0%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1188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64–128K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11880" y="50749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3420999"/>
            <a:ext cx="1371600" cy="1288161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6080760" y="303695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57,5%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89788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256–512K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97880" y="50749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3889218"/>
            <a:ext cx="1371600" cy="819942"/>
          </a:xfrm>
          <a:prstGeom prst="rect">
            <a:avLst/>
          </a:prstGeom>
          <a:solidFill>
            <a:srgbClr val="F46A6A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350517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36,6%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18388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512K–1M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83880" y="50749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50–100%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536752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ocupação da janela 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GPT-5.4 (OpenAI, MRCR v2 8 agulhas, mar/2026) · Chroma, "Context Rot" (2025) · Anthropic, "Effective Context Engineering" (set/2025)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vez de </a:t>
            </a:r>
            <a:pPr indent="0" marL="0">
              <a:buNone/>
            </a:pPr>
            <a:r>
              <a:rPr lang="en-US" sz="1700" i="1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→ código → conserta depois</a:t>
            </a:r>
            <a:pPr indent="0" marL="0">
              <a:buNone/>
            </a:pPr>
            <a:r>
              <a:rPr lang="en-US" sz="17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plano → tasks → executar → verificar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cada etapa gera um artefato aprovado antes da próxima.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15600" cy="1554480"/>
          </a:xfrm>
          <a:prstGeom prst="roundRect">
            <a:avLst>
              <a:gd name="adj" fmla="val 5294"/>
            </a:avLst>
          </a:prstGeom>
          <a:solidFill>
            <a:srgbClr val="16324A"/>
          </a:solidFill>
          <a:ln w="12700">
            <a:solidFill>
              <a:srgbClr val="3ED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406908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não é processo novo.
</a:t>
            </a:r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PRD → spec → tasks → review que vocês já usam entre humanos — aplicado ao agente.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aprova o </a:t>
            </a:r>
            <a:pPr algn="ctr" indent="0" marL="0">
              <a:buNone/>
            </a:pPr>
            <a:r>
              <a:rPr lang="en-US" sz="2200" b="1" i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quê</a:t>
            </a:r>
            <a:pPr algn="ctr"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o plano — os sensores vigiam o </a:t>
            </a:r>
            <a:pPr algn="ctr" indent="0" marL="0">
              <a:buNone/>
            </a:pPr>
            <a:r>
              <a:rPr lang="en-US" sz="2200" b="1" i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</a:t>
            </a:r>
            <a:pPr algn="ctr"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entrega um artefato aprovável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0644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6324A"/>
          </a:solidFill>
          <a:ln w="12700">
            <a:solidFill>
              <a:srgbClr val="3ED6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0644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0644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quê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007108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71700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6324A"/>
          </a:solidFill>
          <a:ln w="12700">
            <a:solidFill>
              <a:srgbClr val="3ED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71700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TechSpec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71700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98164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62756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6324A"/>
          </a:solidFill>
          <a:ln w="12700">
            <a:solidFill>
              <a:srgbClr val="3ED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62756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2756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89220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53812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11D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53812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53812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+ testes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80276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44868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11D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4868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4868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estático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71332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35924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11D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35924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35924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962388" y="3035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26980" y="2743200"/>
            <a:ext cx="1481328" cy="1051560"/>
          </a:xfrm>
          <a:prstGeom prst="roundRect">
            <a:avLst>
              <a:gd name="adj" fmla="val 6957"/>
            </a:avLst>
          </a:prstGeom>
          <a:solidFill>
            <a:srgbClr val="111D2E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26980" y="2798064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Bugfix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126980" y="329184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</a:t>
            </a:r>
            <a:pPr algn="ctr" indent="0" marL="0">
              <a:buNone/>
            </a:pPr>
            <a:r>
              <a:rPr lang="en-US" sz="15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você aprova o artefato   ·   </a:t>
            </a:r>
            <a:pPr algn="ctr" indent="0" marL="0">
              <a:buNone/>
            </a:pPr>
            <a:r>
              <a:rPr lang="en-US" sz="15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Cinza</a:t>
            </a:r>
            <a:pPr algn="ctr" indent="0" marL="0">
              <a:buNone/>
            </a:pPr>
            <a:r>
              <a:rPr lang="en-US" sz="15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sensores verificam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isso responde cada problema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10515600" cy="768096"/>
          </a:xfrm>
          <a:prstGeom prst="roundRect">
            <a:avLst>
              <a:gd name="adj" fmla="val 8333"/>
            </a:avLst>
          </a:prstGeom>
          <a:solidFill>
            <a:srgbClr val="111D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6550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297680" y="165506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Guias que você aprovou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496312"/>
            <a:ext cx="10515600" cy="768096"/>
          </a:xfrm>
          <a:prstGeom prst="roundRect">
            <a:avLst>
              <a:gd name="adj" fmla="val 8333"/>
            </a:avLst>
          </a:prstGeom>
          <a:solidFill>
            <a:srgbClr val="111D2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55117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degrada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97680" y="255117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fase por vez, reset entre fases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3392424"/>
            <a:ext cx="10515600" cy="768096"/>
          </a:xfrm>
          <a:prstGeom prst="roundRect">
            <a:avLst>
              <a:gd name="adj" fmla="val 8333"/>
            </a:avLst>
          </a:prstGeom>
          <a:solidFill>
            <a:srgbClr val="111D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44728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silencioso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97680" y="344728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Sensores por fase: review, QA E2E, regressão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4288536"/>
            <a:ext cx="10515600" cy="768096"/>
          </a:xfrm>
          <a:prstGeom prst="roundRect">
            <a:avLst>
              <a:gd name="adj" fmla="val 8333"/>
            </a:avLst>
          </a:prstGeom>
          <a:solidFill>
            <a:srgbClr val="111D2E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34340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Auto-review viciado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297680" y="434340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em contexto isolado — outro revisor, de mesa limpa, só o diff e a spec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é uma </a:t>
            </a:r>
            <a:pPr indent="0" marL="0">
              <a:buNone/>
            </a:pPr>
            <a:r>
              <a:rPr lang="en-US" sz="17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pPr indent="0" marL="0"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≈ runbook de deploy que executa sozinho, carregado sob demanda.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 revisável antes do código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0515600" cy="4297680"/>
          </a:xfrm>
          <a:prstGeom prst="roundRect">
            <a:avLst>
              <a:gd name="adj" fmla="val 1702"/>
            </a:avLst>
          </a:prstGeom>
          <a:solidFill>
            <a:srgbClr val="0A101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700784"/>
            <a:ext cx="100584" cy="10058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170078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1700784"/>
            <a:ext cx="100584" cy="100584"/>
          </a:xfrm>
          <a:prstGeom prst="ellipse">
            <a:avLst/>
          </a:prstGeom>
          <a:solidFill>
            <a:srgbClr val="30A46C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1627632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tasks/01-painel-clima/prd.md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011680"/>
            <a:ext cx="9966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Objetivos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Clima atual de uma cidade em até 2 interações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- 100% das chamadas a provedores externos passam pelo backend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Dados visíveis em até ~2s após a seleção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Requisitos funcionais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Busca com mais de uma localidade → apresentar opções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para desambiguar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Nenhuma localidade → "cidade não encontrada"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sem quebrar a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decisão técnica registrada, com trade-off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0515600" cy="4297680"/>
          </a:xfrm>
          <a:prstGeom prst="roundRect">
            <a:avLst>
              <a:gd name="adj" fmla="val 1702"/>
            </a:avLst>
          </a:prstGeom>
          <a:solidFill>
            <a:srgbClr val="0A101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700784"/>
            <a:ext cx="100584" cy="10058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170078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1700784"/>
            <a:ext cx="100584" cy="100584"/>
          </a:xfrm>
          <a:prstGeom prst="ellipse">
            <a:avLst/>
          </a:prstGeom>
          <a:solidFill>
            <a:srgbClr val="30A46C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1627632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tasks/01-painel-clima/techspec.md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011680"/>
            <a:ext cx="9966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Resumo executivo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Padrão BFF: o frontend fala só com o backend;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backend é o único a consumir o Open-Meteo.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Principais decisões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 cache server-side: simplicidade; mitiga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rate-limit via debounce no frontend.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Trade-off: maior exposição a latência — aceitável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escopo atual, revisável sem mudar o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vira checklist executável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0515600" cy="4297680"/>
          </a:xfrm>
          <a:prstGeom prst="roundRect">
            <a:avLst>
              <a:gd name="adj" fmla="val 1702"/>
            </a:avLst>
          </a:prstGeom>
          <a:solidFill>
            <a:srgbClr val="0A101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700784"/>
            <a:ext cx="100584" cy="10058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170078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1700784"/>
            <a:ext cx="100584" cy="100584"/>
          </a:xfrm>
          <a:prstGeom prst="ellipse">
            <a:avLst/>
          </a:prstGeom>
          <a:solidFill>
            <a:srgbClr val="30A46C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1627632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tasks/01-painel-clima/01_task.md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011680"/>
            <a:ext cx="9966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[x] 1.0 Backend BFF (busca e clima)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[x] 1.1 zod + config.ts (URLs, timeout, faixas lat/lon)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[x] 1.2 lib/http.ts (AbortController/timeout)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weather-code.ts (WMO → pt-BR)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[x] 1.4 open-meteo.service.ts (normalização + isCurrent)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[x] 1.7 testes unitários e de integração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(fetch mockado · cenários 200 / 400 / 502)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review achou um problema de verdade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481328"/>
            <a:ext cx="10515600" cy="3566160"/>
          </a:xfrm>
          <a:prstGeom prst="roundRect">
            <a:avLst>
              <a:gd name="adj" fmla="val 2051"/>
            </a:avLst>
          </a:prstGeom>
          <a:solidFill>
            <a:srgbClr val="0A101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627632"/>
            <a:ext cx="100584" cy="10058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1627632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1627632"/>
            <a:ext cx="100584" cy="100584"/>
          </a:xfrm>
          <a:prstGeom prst="ellipse">
            <a:avLst/>
          </a:prstGeom>
          <a:solidFill>
            <a:srgbClr val="30A46C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155448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tasks/01-painel-clima/codereview.md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1938528"/>
            <a:ext cx="9966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  APROVADO COM RESSALVAS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Testes:   80/80 passando (74 unit/integração + 6 E2E)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Coverage: 96,4% statements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Severidade | Arquivo    | Descrição                       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Média      | lib/api.ts | BFF_BASE_URL hardcoded —        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|            | quebrará em qualquer deploy      |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vocês já sabem julgar. </a:t>
            </a:r>
            <a:pPr algn="ctr" indent="0" marL="0">
              <a:buNone/>
            </a:pPr>
            <a:r>
              <a:rPr lang="en-US" sz="20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Auditar artefato é mais barato que auditar linha.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confiança vem do processo, não do modelo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111D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6916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Chute  </a:t>
            </a:r>
            <a:pPr indent="0" marL="0">
              <a:buNone/>
            </a:pPr>
            <a:r>
              <a:rPr lang="en-US" sz="1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Guias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111D2E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6916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silencioso  </a:t>
            </a:r>
            <a:pPr indent="0" marL="0">
              <a:buNone/>
            </a:pPr>
            <a:r>
              <a:rPr lang="en-US" sz="1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Sensores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111D2E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8803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degrada  </a:t>
            </a:r>
            <a:pPr indent="0" marL="0">
              <a:buNone/>
            </a:pPr>
            <a:r>
              <a:rPr lang="en-US" sz="1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Uma fase por vez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111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88036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Supervisão infinita  </a:t>
            </a:r>
            <a:pPr indent="0" marL="0">
              <a:buNone/>
            </a:pPr>
            <a:r>
              <a:rPr lang="en-US" sz="18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Artefato auditável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motivo pelo qual você confia no </a:t>
            </a:r>
            <a:pPr algn="ctr" indent="0" marL="0">
              <a:buNone/>
            </a:pPr>
            <a:r>
              <a:rPr lang="en-US" sz="2200" b="1" dirty="0">
                <a:solidFill>
                  <a:srgbClr val="4D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</a:t>
            </a:r>
            <a:pPr algn="ctr" indent="0" marL="0">
              <a:buNone/>
            </a:pPr>
            <a:r>
              <a:rPr lang="en-US" sz="2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na memória do dev.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81735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r-spec — o SDD que vamos rodar ao vivo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Minha implementação do padrão: uma skill por fase do pipeline, instalável em Claude Code, Codex, Cursor e outros.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737360" y="2377440"/>
            <a:ext cx="8686800" cy="1417320"/>
          </a:xfrm>
          <a:prstGeom prst="roundRect">
            <a:avLst>
              <a:gd name="adj" fmla="val 5161"/>
            </a:avLst>
          </a:prstGeom>
          <a:solidFill>
            <a:srgbClr val="0A101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1952" y="2523744"/>
            <a:ext cx="100584" cy="10058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8" name="Shape 6"/>
          <p:cNvSpPr/>
          <p:nvPr/>
        </p:nvSpPr>
        <p:spPr>
          <a:xfrm>
            <a:off x="2103120" y="252374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9" name="Shape 7"/>
          <p:cNvSpPr/>
          <p:nvPr/>
        </p:nvSpPr>
        <p:spPr>
          <a:xfrm>
            <a:off x="2304288" y="2523744"/>
            <a:ext cx="100584" cy="100584"/>
          </a:xfrm>
          <a:prstGeom prst="ellipse">
            <a:avLst/>
          </a:prstGeom>
          <a:solidFill>
            <a:srgbClr val="30A46C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24505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11680" y="283464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skills add https://github.com/renanloureiroo/r-spec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737360" y="4160520"/>
            <a:ext cx="8686800" cy="1234440"/>
          </a:xfrm>
          <a:prstGeom prst="roundRect">
            <a:avLst>
              <a:gd name="adj" fmla="val 6667"/>
            </a:avLst>
          </a:prstGeom>
          <a:solidFill>
            <a:srgbClr val="16324A"/>
          </a:solidFill>
          <a:ln w="12700">
            <a:solidFill>
              <a:srgbClr val="3ED6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4343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3ED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sessão: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PRD ao PR, ao vivo, com uma feature real.
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Tragam uma feature candidata do backlog de vocês.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 L2 e L3 do chat: essa sessão é pra vocês.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2026-08-25T04:30:58Z</dcterms:created>
  <dcterms:modified xsi:type="dcterms:W3CDTF">2026-08-25T04:30:58Z</dcterms:modified>
</cp:coreProperties>
</file>