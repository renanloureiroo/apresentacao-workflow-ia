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seca, 15s. Nome, contexto ('uso IA no dia a dia pra desenvolver') e direto pro slide 2. Nao anunciar agenda.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Avancar linha a linha se usar build; senao, percorrer com o cursor/voz. Pergunta retorica, tom de cumplicidade ('eu vivi esse loop'). ~45s.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Unica interacao da talk - orcar 60-90s reais (latencia de call + ler respostas). O loop do slide 2 e o sintoma do L2. A maioria da plateia deve estar entre L2 e L3 - por isso os dois marcados. Guardar os niveis do chat pro callback do fecho. FALLBACK se ninguem responder ou ninguem for L2: 'pros que se reconheceram no slide anterior, a proxima sessao e pra voces'. 'Pra sentir controle' e fala, nao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do curso. Sem numeros de produtividade - sem fonte. ~30s.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3s de silencio depois de ler. Contrato da talk. Fim do bloco 1 (~4 min + interacao).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Termo novo n1 (LLM). Nao usar a palavra 'token' na talk inteira. ~30s.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Print real de um chat sem acesso ao repo - nunca rodar ao vivo. 'O modelo nao e burro - e cego.' Ponte: 'o que resolve isso tem nome'. ~30s.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Termo novo n2, slide so dele. Falar (nao escrever): 'ele le o arquivo, edita, roda o teste - e tenta de novo'. Claude Code, Cursor, Copilot = harnesses. A equacao entra por ultimo (build); daqui em diante 'agente' e livre. ~1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Analogia ancora - vai ser esticada no slide 12. Fim do bloco 2 (~3,5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Terminologia do curso (feedforward). Exemplo falado: AGENTS.md com comandos e convencoes do projeto. ~45s.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Plantar aqui a frase do CI - o fecho vira callback. Falar: 'o erro e corrigido antes de chegar em voce'. ~45s.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Termo novo n3. PONTE FALADA vindo do slide anterior: 'guias e sensores sao texto - e texto ocupa o mesmo espaco que o codigo, na janela de contexto'. Dai a definicao, dai as barras. 'Contexto de 1M' e marketing. ~1 min. FECHO FALADO do bloco 3 (substitui o slide cortado): 'contexto e recurso escasso - e quem gerencia guias, sensores e contexto ao longo de uma feature inteira?' -&gt; proximo slide responde.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Falar devagar. A ancoragem no processo humano desarma o estranhamento do termo. A linha final e a resposta a objecao 'entao a solucao pra quem aprova demais e aprovar tudo?' - o Baba aprova cada passo do como; no SDD voce aprova o que e o plano em poucos checkpoints. ~1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fase a fase se possivel; testar no software de call real. Falar, sem slide: 'nao e invencao minha - o Spec Kit do GitHub e o superpowers seguem o mesmo padrao'. ~1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builds - a definicao de skill (ultimo termo novo) entra sozinha, senao passa despercebida. Se apertar: so as 2 primeiras linhas. ~1,5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Recorte real de example/tasks/01-painel-clima/prd.md (repo r-spec). Frase unica do r-spec: 'a implementacao que eu uso no dia a dia - o padrao e o mesmo em qualquer uma'. ~40s.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Recorte real de techspec.md. E o 'como' aprovado antes do codigo: arquitetura, decisoes e trade-offs registrados - da pra discordar da decisao ANTES de ela virar 30 arquivos. A techspec tambem lista interfaces, endpoints, testes e riscos. ~40s.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Recorte de 01_task.md - granularidade real, com subtask de teste explicita. E isso que separa de um TODO num gist: cada task tem requisitos, criterios de sucesso e testes proprios, aprovados antes de codar. Se apertar: 15s e segue. ~40s.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Climax do bloco 4. Se alguem apontar 'severidade Media pra algo que quebra deploy?': 'media porque e config, nao logica - e e exatamente por isso que o artefato existe: voce discorda da severidade ANTES do merge'. Fim do bloco (~6 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slide que vao fotografar - titulo carrega a tese. Callback do CI plantado no slide de sensores. ~45s.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Gancho final: r-spec e a implementacao da demo - repo aberto, MIT, portavel entre harnesses (spec agentskills.io). Callback do chat (fallback: 'pros que se reconheceram no slide 2'). Encerrar com a tarefa e abrir pra perguntas - objecoes preparadas no roteiro do vault. ~45s.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43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Confiança no código gerado por I.A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65760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"ajusta isso, ajusta aquilo" </a:t>
            </a:r>
            <a:pPr algn="ctr" indent="0" marL="0">
              <a:buNone/>
            </a:pPr>
            <a:r>
              <a:rPr lang="en-US" sz="2000" dirty="0">
                <a:solidFill>
                  <a:srgbClr val="3ED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processo que verifica por você.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A DOR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21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Essa cena é familiar?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0" y="160020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977640" y="194767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0" y="225856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 quase certo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977640" y="2606040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0" y="2916936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ajusta isso…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977640" y="3264408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57600" y="3575304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ajusta aquilo…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77640" y="3922776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0" y="423367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quebra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977640" y="4581144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0" y="48920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tenta o modo em que ele planeja antes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977640" y="523951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57600" y="555040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ainda não saiu como esperado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A DOR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21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5 níveis de adoção de I.A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822960" y="1572768"/>
            <a:ext cx="10515600" cy="658368"/>
          </a:xfrm>
          <a:prstGeom prst="roundRect">
            <a:avLst>
              <a:gd name="adj" fmla="val 9722"/>
            </a:avLst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700784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1682496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206240" y="170992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I.A no fluxo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359152"/>
            <a:ext cx="10515600" cy="658368"/>
          </a:xfrm>
          <a:prstGeom prst="roundRect">
            <a:avLst>
              <a:gd name="adj" fmla="val 9722"/>
            </a:avLst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487168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828800" y="2468880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Copy/Paste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06240" y="2496312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 do chat, autocomplete ocasional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3145536"/>
            <a:ext cx="10515600" cy="658368"/>
          </a:xfrm>
          <a:prstGeom prst="roundRect">
            <a:avLst>
              <a:gd name="adj" fmla="val 9722"/>
            </a:avLst>
          </a:prstGeom>
          <a:solidFill>
            <a:srgbClr val="16324A"/>
          </a:solidFill>
          <a:ln w="15875">
            <a:solidFill>
              <a:srgbClr val="3ED6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273552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828800" y="3255264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Babá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206240" y="3282696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 cada passo; passa o tempo esperando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3931920"/>
            <a:ext cx="10515600" cy="658368"/>
          </a:xfrm>
          <a:prstGeom prst="roundRect">
            <a:avLst>
              <a:gd name="adj" fmla="val 9722"/>
            </a:avLst>
          </a:prstGeom>
          <a:solidFill>
            <a:srgbClr val="16324A"/>
          </a:solidFill>
          <a:ln w="15875">
            <a:solidFill>
              <a:srgbClr val="3ED6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4059936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D6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828800" y="404164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Gerente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206240" y="4069080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 plano, revisa o PR final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" y="4718304"/>
            <a:ext cx="10515600" cy="658368"/>
          </a:xfrm>
          <a:prstGeom prst="roundRect">
            <a:avLst>
              <a:gd name="adj" fmla="val 9722"/>
            </a:avLst>
          </a:prstGeom>
          <a:solidFill>
            <a:srgbClr val="111D2E"/>
          </a:solidFill>
          <a:ln w="12700">
            <a:solidFill>
              <a:srgbClr val="111D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4846320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28800" y="4828032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Fábrica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206240" y="4855464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Pipelines autônomos pra fluxos repetíveis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 no chat: </a:t>
            </a:r>
            <a:pPr algn="ctr" indent="0" marL="0">
              <a:buNone/>
            </a:pPr>
            <a:r>
              <a:rPr lang="en-US" sz="1800" b="1" dirty="0">
                <a:solidFill>
                  <a:srgbClr val="3ED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que nível você está?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A DOR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21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10543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escrito por I.A </a:t>
            </a:r>
            <a:pPr algn="ctr" indent="0" marL="0">
              <a:buNone/>
            </a:pPr>
            <a:r>
              <a:rPr lang="en-US" sz="38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 produtividade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463040" y="3063240"/>
            <a:ext cx="9262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Especialmente quando a maior parte do tempo é gasta parado, vendo a I.A escrever.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3977640"/>
            <a:ext cx="9262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resultado diz mais sobre </a:t>
            </a:r>
            <a:pPr algn="ctr" indent="0" marL="0">
              <a:buNone/>
            </a:pPr>
            <a:r>
              <a:rPr lang="en-US" sz="2000" b="1" dirty="0">
                <a:solidFill>
                  <a:srgbClr val="3ED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você usa</a:t>
            </a:r>
            <a:pPr algn="ctr" indent="0" marL="0">
              <a:buNone/>
            </a:pPr>
            <a:r>
              <a:rPr lang="en-US" sz="20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que sobre o que a I.A consegue fazer.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2560320"/>
            <a:ext cx="105430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</a:t>
            </a:r>
            <a:pPr algn="ctr" indent="0" marL="0">
              <a:buNone/>
            </a:pPr>
            <a:r>
              <a:rPr lang="en-US" sz="3600" b="1" dirty="0">
                <a:solidFill>
                  <a:srgbClr val="3ED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aumentar a confiança</a:t>
            </a:r>
            <a:pPr algn="ctr" indent="0" marL="0">
              <a:buNone/>
            </a:pPr>
            <a:r>
              <a:rPr lang="en-US" sz="36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resultado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4D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aumentar a supervisão</a:t>
            </a:r>
            <a:pPr algn="ctr" indent="0" marL="0">
              <a:buNone/>
            </a:pPr>
            <a:r>
              <a:rPr lang="en-US" sz="36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POR QUE CHUTA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21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LLM não sabe que seu repo existe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1031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</a:t>
            </a:r>
            <a:pPr indent="0" marL="0">
              <a:buNone/>
            </a:pPr>
            <a:r>
              <a:rPr lang="en-US" sz="2200" b="1" dirty="0">
                <a:solidFill>
                  <a:srgbClr val="3ED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gerador de texto</a:t>
            </a:r>
            <a:pPr indent="0" marL="0">
              <a:buNone/>
            </a:pPr>
            <a:r>
              <a:rPr lang="en-US" sz="22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que prevê a continuação mais provável do que recebeu.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3383280"/>
            <a:ext cx="3200400" cy="1051560"/>
          </a:xfrm>
          <a:prstGeom prst="roundRect">
            <a:avLst>
              <a:gd name="adj" fmla="val 7826"/>
            </a:avLst>
          </a:prstGeom>
          <a:solidFill>
            <a:srgbClr val="111D2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38328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estado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480560" y="3383280"/>
            <a:ext cx="3200400" cy="1051560"/>
          </a:xfrm>
          <a:prstGeom prst="roundRect">
            <a:avLst>
              <a:gd name="adj" fmla="val 7826"/>
            </a:avLst>
          </a:prstGeom>
          <a:solidFill>
            <a:srgbClr val="111D2E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338328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memória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138160" y="3383280"/>
            <a:ext cx="3200400" cy="1051560"/>
          </a:xfrm>
          <a:prstGeom prst="roundRect">
            <a:avLst>
              <a:gd name="adj" fmla="val 7826"/>
            </a:avLst>
          </a:prstGeom>
          <a:solidFill>
            <a:srgbClr val="111D2E"/>
          </a:solidFill>
          <a:ln/>
        </p:spPr>
      </p:sp>
      <p:sp>
        <p:nvSpPr>
          <p:cNvPr id="11" name="Text 9"/>
          <p:cNvSpPr/>
          <p:nvPr/>
        </p:nvSpPr>
        <p:spPr>
          <a:xfrm>
            <a:off x="8138160" y="338328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46A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acesso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POR QUE CHUTA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21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prova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60120" y="1828800"/>
            <a:ext cx="10241280" cy="2788920"/>
          </a:xfrm>
          <a:prstGeom prst="roundRect">
            <a:avLst>
              <a:gd name="adj" fmla="val 3279"/>
            </a:avLst>
          </a:prstGeom>
          <a:solidFill>
            <a:srgbClr val="000000"/>
          </a:solidFill>
          <a:ln w="12700">
            <a:solidFill>
              <a:srgbClr val="1E293B"/>
            </a:solidFill>
            <a:prstDash val="solid"/>
          </a:ln>
        </p:spPr>
      </p:sp>
      <p:pic>
        <p:nvPicPr>
          <p:cNvPr id="6" name="Image 0" descr="prov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029968"/>
            <a:ext cx="9784080" cy="24323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5074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acesso ao repo, resta pedir: </a:t>
            </a:r>
            <a:pPr algn="ctr" indent="0" marL="0">
              <a:buNone/>
            </a:pPr>
            <a:r>
              <a:rPr lang="en-US" sz="1800" i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"envie o trecho do código que eu corrijo o bug."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POR QUE CHUTA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21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software </a:t>
            </a:r>
            <a:pPr indent="0" marL="0">
              <a:buNone/>
            </a:pPr>
            <a:r>
              <a:rPr lang="en-US" sz="2400" b="1" dirty="0">
                <a:solidFill>
                  <a:srgbClr val="3ED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redor</a:t>
            </a:r>
            <a:pPr indent="0" marL="0">
              <a:buNone/>
            </a:pPr>
            <a:r>
              <a:rPr lang="en-US" sz="24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 modelo.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10515600" cy="1371600"/>
          </a:xfrm>
          <a:prstGeom prst="roundRect">
            <a:avLst>
              <a:gd name="adj" fmla="val 6000"/>
            </a:avLst>
          </a:prstGeom>
          <a:solidFill>
            <a:srgbClr val="111D2E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69748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 para o modelo como o </a:t>
            </a:r>
            <a:pPr indent="0" marL="0">
              <a:buNone/>
            </a:pPr>
            <a:r>
              <a:rPr lang="en-US" sz="1900" b="1" dirty="0">
                <a:solidFill>
                  <a:srgbClr val="4D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 de CI</a:t>
            </a:r>
            <a:pPr indent="0" marL="0">
              <a:buNone/>
            </a:pPr>
            <a:r>
              <a:rPr lang="en-US" sz="19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está para o seu script: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dá acesso ao repo, executa comandos, devolve o resultado.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47091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+ Modelo = </a:t>
            </a:r>
            <a:pPr algn="ctr" indent="0" marL="0">
              <a:buNone/>
            </a:pPr>
            <a:r>
              <a:rPr lang="en-US" sz="2800" b="1" dirty="0">
                <a:solidFill>
                  <a:srgbClr val="3ED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de código</a:t>
            </a:r>
            <a:endParaRPr lang="en-US" sz="2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POR QUE CHUTA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21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 acesso não basta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 vago → o agente decide pelo </a:t>
            </a:r>
            <a:pPr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 de treinamento</a:t>
            </a:r>
            <a:pPr indent="0" marL="0">
              <a:buNone/>
            </a:pPr>
            <a:r>
              <a:rPr lang="en-US" sz="22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não pelas </a:t>
            </a:r>
            <a:pPr indent="0" marL="0">
              <a:buNone/>
            </a:pPr>
            <a:r>
              <a:rPr lang="en-US" sz="2200" b="1" dirty="0">
                <a:solidFill>
                  <a:srgbClr val="3ED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suas convenções</a:t>
            </a:r>
            <a:pPr indent="0" marL="0">
              <a:buNone/>
            </a:pPr>
            <a:r>
              <a:rPr lang="en-US" sz="22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3200400"/>
            <a:ext cx="10515600" cy="1737360"/>
          </a:xfrm>
          <a:prstGeom prst="roundRect">
            <a:avLst>
              <a:gd name="adj" fmla="val 4737"/>
            </a:avLst>
          </a:prstGeom>
          <a:solidFill>
            <a:srgbClr val="111D2E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347472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3ED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≈ o que cabe na mesa do revisor.
</a:t>
            </a:r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gaveta inteira, ele se perde; a pasta certa, ele acerta.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GUIAS E SENSORES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21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Guias — antecipam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Direcionam o agente antes de agir: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111D2E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2860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e padrões de código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17920" y="2286000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111D2E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22860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 de pastas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22960" y="3337560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111D2E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3375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Blueprints de arquitetura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0" y="3337560"/>
            <a:ext cx="5074920" cy="822960"/>
          </a:xfrm>
          <a:prstGeom prst="roundRect">
            <a:avLst>
              <a:gd name="adj" fmla="val 8889"/>
            </a:avLst>
          </a:prstGeom>
          <a:solidFill>
            <a:srgbClr val="111D2E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33375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Anti-padrões ("nunca faça X")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" y="48920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Aumentam o acerto </a:t>
            </a:r>
            <a:pPr indent="0" marL="0">
              <a:buNone/>
            </a:pPr>
            <a:r>
              <a:rPr lang="en-US" sz="2000" b="1" dirty="0">
                <a:solidFill>
                  <a:srgbClr val="3ED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primeira tentativa.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GUIAS E SENSORES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21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 — verificam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Observam o resultado depois que o agente age: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111D2E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2860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automatizados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34840" y="228600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111D2E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22860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Linter, compilador, typecheck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46720" y="228600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111D2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0" y="22860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Browser, logs, banco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206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 são o seu </a:t>
            </a:r>
            <a:pPr algn="ctr" indent="0" marL="0">
              <a:buNone/>
            </a:pPr>
            <a:r>
              <a:rPr lang="en-US" sz="2400" b="1" dirty="0">
                <a:solidFill>
                  <a:srgbClr val="4D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apontado pro agente</a:t>
            </a:r>
            <a:pPr algn="ctr" indent="0" marL="0">
              <a:buNone/>
            </a:pPr>
            <a:r>
              <a:rPr lang="en-US" sz="24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GUIAS E SENSORES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21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 mais cheia a janela, pior o resultado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ED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Janela de contexto</a:t>
            </a:r>
            <a:pPr indent="0" marL="0">
              <a:buNone/>
            </a:pPr>
            <a:r>
              <a:rPr lang="en-US" sz="17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tudo que o modelo considera de uma vez — regras, logs de teste, código, conversa.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828800" y="2529368"/>
            <a:ext cx="1371600" cy="2179792"/>
          </a:xfrm>
          <a:prstGeom prst="rect">
            <a:avLst/>
          </a:prstGeom>
          <a:solidFill>
            <a:srgbClr val="3ED6C4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21453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97,3%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325880" y="4800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4–8K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325880" y="5074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~1% da janela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0" y="2782519"/>
            <a:ext cx="1371600" cy="1926641"/>
          </a:xfrm>
          <a:prstGeom prst="rect">
            <a:avLst/>
          </a:prstGeom>
          <a:solidFill>
            <a:srgbClr val="9BD770"/>
          </a:solidFill>
          <a:ln/>
        </p:spPr>
      </p:sp>
      <p:sp>
        <p:nvSpPr>
          <p:cNvPr id="11" name="Text 9"/>
          <p:cNvSpPr/>
          <p:nvPr/>
        </p:nvSpPr>
        <p:spPr>
          <a:xfrm>
            <a:off x="3794760" y="2398471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86,0%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11880" y="4800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64–128K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11880" y="5074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3420999"/>
            <a:ext cx="1371600" cy="1288161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6080760" y="3036951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57,5%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897880" y="4800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256–512K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897880" y="5074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25–50%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0" y="3889218"/>
            <a:ext cx="1371600" cy="819942"/>
          </a:xfrm>
          <a:prstGeom prst="rect">
            <a:avLst/>
          </a:prstGeom>
          <a:solidFill>
            <a:srgbClr val="F46A6A"/>
          </a:solidFill>
          <a:ln/>
        </p:spPr>
      </p:sp>
      <p:sp>
        <p:nvSpPr>
          <p:cNvPr id="19" name="Text 17"/>
          <p:cNvSpPr/>
          <p:nvPr/>
        </p:nvSpPr>
        <p:spPr>
          <a:xfrm>
            <a:off x="8366760" y="350517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36,6%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183880" y="4800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512K–1M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5074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50–100%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88720" y="5367528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ocupação da janela →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6355080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Fontes: GPT-5.4 (OpenAI, MRCR v2 8 agulhas, mar/2026) · Chroma, "Context Rot" (2025) · Anthropic, "Effective Context Engineering" (set/2025)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O PROCESSO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21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Spec-Driven Development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vez de </a:t>
            </a:r>
            <a:pPr indent="0" marL="0">
              <a:buNone/>
            </a:pPr>
            <a:r>
              <a:rPr lang="en-US" sz="1700" i="1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→ código → conserta depois</a:t>
            </a:r>
            <a:pPr indent="0" marL="0">
              <a:buNone/>
            </a:pPr>
            <a:r>
              <a:rPr lang="en-US" sz="170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ED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→ plano → tasks → executar → verificar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cada etapa gera um artefato aprovado antes da próxima.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840480"/>
            <a:ext cx="10515600" cy="1554480"/>
          </a:xfrm>
          <a:prstGeom prst="roundRect">
            <a:avLst>
              <a:gd name="adj" fmla="val 5294"/>
            </a:avLst>
          </a:prstGeom>
          <a:solidFill>
            <a:srgbClr val="16324A"/>
          </a:solidFill>
          <a:ln w="12700">
            <a:solidFill>
              <a:srgbClr val="3ED6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4069080"/>
            <a:ext cx="9875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Isso não é processo novo.
</a:t>
            </a:r>
            <a:pPr indent="0" marL="0">
              <a:lnSpc>
                <a:spcPct val="130000"/>
              </a:lnSpc>
              <a:buNone/>
            </a:pPr>
            <a:r>
              <a:rPr lang="en-US" sz="19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o PRD → spec → tasks → review que vocês já usam entre humanos — aplicado ao agente.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56235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Você aprova o </a:t>
            </a:r>
            <a:pPr algn="ctr" indent="0" marL="0">
              <a:buNone/>
            </a:pPr>
            <a:r>
              <a:rPr lang="en-US" sz="2200" b="1" i="1" dirty="0">
                <a:solidFill>
                  <a:srgbClr val="3ED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quê</a:t>
            </a:r>
            <a:pPr algn="ctr" indent="0" marL="0">
              <a:buNone/>
            </a:pPr>
            <a:r>
              <a:rPr lang="en-US" sz="22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 o plano — os sensores vigiam o </a:t>
            </a:r>
            <a:pPr algn="ctr" indent="0" marL="0">
              <a:buNone/>
            </a:pPr>
            <a:r>
              <a:rPr lang="en-US" sz="2200" b="1" i="1" dirty="0">
                <a:solidFill>
                  <a:srgbClr val="3ED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</a:t>
            </a:r>
            <a:pPr algn="ctr" indent="0" marL="0">
              <a:buNone/>
            </a:pPr>
            <a:r>
              <a:rPr lang="en-US" sz="22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O PROCESSO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21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fase entrega um artefato aprovável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80644" y="274320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16324A"/>
          </a:solidFill>
          <a:ln w="12700">
            <a:solidFill>
              <a:srgbClr val="3ED6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0644" y="2798064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0644" y="329184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quê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007108" y="303580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71700" y="274320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16324A"/>
          </a:solidFill>
          <a:ln w="12700">
            <a:solidFill>
              <a:srgbClr val="3ED6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71700" y="2798064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TechSpec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71700" y="329184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como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598164" y="303580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762756" y="274320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16324A"/>
          </a:solidFill>
          <a:ln w="12700">
            <a:solidFill>
              <a:srgbClr val="3ED6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62756" y="2798064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62756" y="329184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plano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89220" y="303580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353812" y="274320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111D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53812" y="2798064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353812" y="329184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+ testes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780276" y="303580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944868" y="274320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111D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4868" y="2798064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4868" y="329184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estático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371332" y="303580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535924" y="274320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111D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35924" y="2798064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535924" y="329184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962388" y="3035808"/>
            <a:ext cx="237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126980" y="2743200"/>
            <a:ext cx="1481328" cy="1051560"/>
          </a:xfrm>
          <a:prstGeom prst="roundRect">
            <a:avLst>
              <a:gd name="adj" fmla="val 6957"/>
            </a:avLst>
          </a:prstGeom>
          <a:solidFill>
            <a:srgbClr val="111D2E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26980" y="2798064"/>
            <a:ext cx="148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Bugfix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126980" y="3291840"/>
            <a:ext cx="148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regressão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2960" y="4572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D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Azul</a:t>
            </a:r>
            <a:pPr algn="ctr" indent="0" marL="0">
              <a:buNone/>
            </a:pPr>
            <a:r>
              <a:rPr lang="en-US" sz="150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você aprova o artefato   ·   </a:t>
            </a:r>
            <a:pPr algn="ctr" indent="0" marL="0">
              <a:buNone/>
            </a:pPr>
            <a:r>
              <a:rPr lang="en-US" sz="15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Cinza</a:t>
            </a:r>
            <a:pPr algn="ctr" indent="0" marL="0">
              <a:buNone/>
            </a:pPr>
            <a:r>
              <a:rPr lang="en-US" sz="150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sensores verificam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O PROCESSO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21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isso responde cada problema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10515600" cy="768096"/>
          </a:xfrm>
          <a:prstGeom prst="roundRect">
            <a:avLst>
              <a:gd name="adj" fmla="val 8333"/>
            </a:avLst>
          </a:prstGeom>
          <a:solidFill>
            <a:srgbClr val="111D2E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655064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97680" y="1655064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Guias que você aprovou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2496312"/>
            <a:ext cx="10515600" cy="768096"/>
          </a:xfrm>
          <a:prstGeom prst="roundRect">
            <a:avLst>
              <a:gd name="adj" fmla="val 8333"/>
            </a:avLst>
          </a:prstGeom>
          <a:solidFill>
            <a:srgbClr val="111D2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551176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Janela degrada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97680" y="2551176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fase por vez, reset entre fases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3392424"/>
            <a:ext cx="10515600" cy="768096"/>
          </a:xfrm>
          <a:prstGeom prst="roundRect">
            <a:avLst>
              <a:gd name="adj" fmla="val 8333"/>
            </a:avLst>
          </a:prstGeom>
          <a:solidFill>
            <a:srgbClr val="111D2E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44728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 silencioso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297680" y="3447288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 por fase: review, QA E2E, regressão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22960" y="4288536"/>
            <a:ext cx="10515600" cy="768096"/>
          </a:xfrm>
          <a:prstGeom prst="roundRect">
            <a:avLst>
              <a:gd name="adj" fmla="val 8333"/>
            </a:avLst>
          </a:prstGeom>
          <a:solidFill>
            <a:srgbClr val="111D2E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34340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Auto-review viciado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97680" y="4343400"/>
            <a:ext cx="6766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em contexto isolado — outro revisor, de mesa limpa, só o diff e a spec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5440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fase é uma </a:t>
            </a:r>
            <a:pPr indent="0" marL="0">
              <a:buNone/>
            </a:pPr>
            <a:r>
              <a:rPr lang="en-US" sz="1700" b="1" dirty="0">
                <a:solidFill>
                  <a:srgbClr val="3ED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pPr indent="0" marL="0">
              <a:buNone/>
            </a:pPr>
            <a:r>
              <a:rPr lang="en-US" sz="17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≈ runbook de deploy que executa sozinho, carregado sob demanda.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ARTEFATOS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21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Requisito revisável antes do código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554480"/>
            <a:ext cx="10515600" cy="4297680"/>
          </a:xfrm>
          <a:prstGeom prst="roundRect">
            <a:avLst>
              <a:gd name="adj" fmla="val 1702"/>
            </a:avLst>
          </a:prstGeom>
          <a:solidFill>
            <a:srgbClr val="0A101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700784"/>
            <a:ext cx="100584" cy="100584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700784"/>
            <a:ext cx="100584" cy="1005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Shape 6"/>
          <p:cNvSpPr/>
          <p:nvPr/>
        </p:nvSpPr>
        <p:spPr>
          <a:xfrm>
            <a:off x="1389888" y="1700784"/>
            <a:ext cx="100584" cy="100584"/>
          </a:xfrm>
          <a:prstGeom prst="ellipse">
            <a:avLst/>
          </a:prstGeom>
          <a:solidFill>
            <a:srgbClr val="30A46C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162763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tasks/01-painel-clima/prd.md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2011680"/>
            <a:ext cx="9966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Objetivos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Clima atual de uma cidade em até 2 interações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- 100% das chamadas a provedores externos passam pelo backend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Dados visíveis em até ~2s após a seleção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Requisitos funcionais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Busca com mais de uma localidade → apresentar opções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para desambiguar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Nenhuma localidade → "cidade não encontrada"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sem quebrar a interface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ARTEFATOS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21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decisão técnica registrada, com trade-off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554480"/>
            <a:ext cx="10515600" cy="4297680"/>
          </a:xfrm>
          <a:prstGeom prst="roundRect">
            <a:avLst>
              <a:gd name="adj" fmla="val 1702"/>
            </a:avLst>
          </a:prstGeom>
          <a:solidFill>
            <a:srgbClr val="0A101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700784"/>
            <a:ext cx="100584" cy="100584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700784"/>
            <a:ext cx="100584" cy="1005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Shape 6"/>
          <p:cNvSpPr/>
          <p:nvPr/>
        </p:nvSpPr>
        <p:spPr>
          <a:xfrm>
            <a:off x="1389888" y="1700784"/>
            <a:ext cx="100584" cy="100584"/>
          </a:xfrm>
          <a:prstGeom prst="ellipse">
            <a:avLst/>
          </a:prstGeom>
          <a:solidFill>
            <a:srgbClr val="30A46C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162763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tasks/01-painel-clima/techspec.md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2011680"/>
            <a:ext cx="9966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Resumo executivo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Padrão BFF: o frontend fala só com o backend;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backend é o único a consumir o Open-Meteo.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Principais decisões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Sem cache server-side: simplicidade; mitiga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rate-limit via debounce no frontend.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Trade-off: maior exposição a latência — aceitável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 escopo atual, revisável sem mudar o contrato.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ARTEFATOS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21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plano vira checklist executável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554480"/>
            <a:ext cx="10515600" cy="4297680"/>
          </a:xfrm>
          <a:prstGeom prst="roundRect">
            <a:avLst>
              <a:gd name="adj" fmla="val 1702"/>
            </a:avLst>
          </a:prstGeom>
          <a:solidFill>
            <a:srgbClr val="0A101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700784"/>
            <a:ext cx="100584" cy="100584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700784"/>
            <a:ext cx="100584" cy="1005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Shape 6"/>
          <p:cNvSpPr/>
          <p:nvPr/>
        </p:nvSpPr>
        <p:spPr>
          <a:xfrm>
            <a:off x="1389888" y="1700784"/>
            <a:ext cx="100584" cy="100584"/>
          </a:xfrm>
          <a:prstGeom prst="ellipse">
            <a:avLst/>
          </a:prstGeom>
          <a:solidFill>
            <a:srgbClr val="30A46C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162763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tasks/01-painel-clima/01_task.md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2011680"/>
            <a:ext cx="99669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[x] 1.0 Backend BFF (busca e clima)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[x] 1.1 zod + config.ts (URLs, timeout, faixas lat/lon)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[x] 1.2 lib/http.ts (AbortController/timeout)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+ weather-code.ts (WMO → pt-BR)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[x] 1.4 open-meteo.service.ts (normalização + isCurrent)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[x] 1.7 testes unitários e de integração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(fetch mockado · cenários 200 / 400 / 502)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ARTEFATOS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21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review achou um problema de verdade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481328"/>
            <a:ext cx="10515600" cy="3566160"/>
          </a:xfrm>
          <a:prstGeom prst="roundRect">
            <a:avLst>
              <a:gd name="adj" fmla="val 2051"/>
            </a:avLst>
          </a:prstGeom>
          <a:solidFill>
            <a:srgbClr val="0A101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87552" y="1627632"/>
            <a:ext cx="100584" cy="100584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627632"/>
            <a:ext cx="100584" cy="1005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8" name="Shape 6"/>
          <p:cNvSpPr/>
          <p:nvPr/>
        </p:nvSpPr>
        <p:spPr>
          <a:xfrm>
            <a:off x="1389888" y="1627632"/>
            <a:ext cx="100584" cy="100584"/>
          </a:xfrm>
          <a:prstGeom prst="ellipse">
            <a:avLst/>
          </a:prstGeom>
          <a:solidFill>
            <a:srgbClr val="30A46C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15544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tasks/01-painel-clima/codereview.md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1938528"/>
            <a:ext cx="99669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  APROVADO COM RESSALVAS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Testes:   80/80 passando (74 unit/integração + 6 E2E)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Coverage: 96,4% statements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Severidade | Arquivo    | Descrição                        |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Média      | lib/api.ts | BFF_BASE_URL hardcoded —         |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         |            | quebrará em qualquer deploy      |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5349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ED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Isso vocês já sabem julgar. </a:t>
            </a:r>
            <a:pPr algn="ctr" indent="0" marL="0">
              <a:buNone/>
            </a:pPr>
            <a:r>
              <a:rPr lang="en-US" sz="20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Auditar artefato é mais barato que auditar linha.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FECHO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21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confiança vem do processo, não do modelo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111D2E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69164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Chute  </a:t>
            </a:r>
            <a:pPr indent="0" marL="0">
              <a:buNone/>
            </a:pPr>
            <a:r>
              <a:rPr lang="en-US" sz="1800" b="1" dirty="0">
                <a:solidFill>
                  <a:srgbClr val="3ED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Guias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111D2E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69164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 silencioso  </a:t>
            </a:r>
            <a:pPr indent="0" marL="0">
              <a:buNone/>
            </a:pPr>
            <a:r>
              <a:rPr lang="en-US" sz="1800" b="1" dirty="0">
                <a:solidFill>
                  <a:srgbClr val="3ED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Sensores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288036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111D2E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88036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Janela degrada  </a:t>
            </a:r>
            <a:pPr indent="0" marL="0">
              <a:buNone/>
            </a:pPr>
            <a:r>
              <a:rPr lang="en-US" sz="1800" b="1" dirty="0">
                <a:solidFill>
                  <a:srgbClr val="3ED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Uma fase por vez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17920" y="288036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111D2E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88036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Supervisão infinita  </a:t>
            </a:r>
            <a:pPr indent="0" marL="0">
              <a:buNone/>
            </a:pPr>
            <a:r>
              <a:rPr lang="en-US" sz="1800" b="1" dirty="0">
                <a:solidFill>
                  <a:srgbClr val="3ED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Artefato auditável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22960" y="47091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mesmo motivo pelo qual você confia no </a:t>
            </a:r>
            <a:pPr algn="ctr" indent="0" marL="0">
              <a:buNone/>
            </a:pPr>
            <a:r>
              <a:rPr lang="en-US" sz="2200" b="1" dirty="0">
                <a:solidFill>
                  <a:srgbClr val="4D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</a:t>
            </a:r>
            <a:pPr algn="ctr" indent="0" marL="0">
              <a:buNone/>
            </a:pPr>
            <a:r>
              <a:rPr lang="en-US" sz="22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não na memória do dev.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FECHO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081735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21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r-spec — o SDD que vamos rodar ao vivo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Minha implementação do padrão: uma skill por fase do pipeline, instalável em Claude Code, Codex, Cursor e outros.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737360" y="2377440"/>
            <a:ext cx="8686800" cy="1417320"/>
          </a:xfrm>
          <a:prstGeom prst="roundRect">
            <a:avLst>
              <a:gd name="adj" fmla="val 5161"/>
            </a:avLst>
          </a:prstGeom>
          <a:solidFill>
            <a:srgbClr val="0A101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01952" y="2523744"/>
            <a:ext cx="100584" cy="100584"/>
          </a:xfrm>
          <a:prstGeom prst="ellipse">
            <a:avLst/>
          </a:prstGeom>
          <a:solidFill>
            <a:srgbClr val="E5484D"/>
          </a:solidFill>
          <a:ln/>
        </p:spPr>
      </p:sp>
      <p:sp>
        <p:nvSpPr>
          <p:cNvPr id="8" name="Shape 6"/>
          <p:cNvSpPr/>
          <p:nvPr/>
        </p:nvSpPr>
        <p:spPr>
          <a:xfrm>
            <a:off x="2103120" y="2523744"/>
            <a:ext cx="100584" cy="100584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9" name="Shape 7"/>
          <p:cNvSpPr/>
          <p:nvPr/>
        </p:nvSpPr>
        <p:spPr>
          <a:xfrm>
            <a:off x="2304288" y="2523744"/>
            <a:ext cx="100584" cy="100584"/>
          </a:xfrm>
          <a:prstGeom prst="ellipse">
            <a:avLst/>
          </a:prstGeom>
          <a:solidFill>
            <a:srgbClr val="30A46C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245059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terminal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283464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7E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skills add https://github.com/renanloureiroo/r-spec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737360" y="4160520"/>
            <a:ext cx="8686800" cy="1234440"/>
          </a:xfrm>
          <a:prstGeom prst="roundRect">
            <a:avLst>
              <a:gd name="adj" fmla="val 6667"/>
            </a:avLst>
          </a:prstGeom>
          <a:solidFill>
            <a:srgbClr val="16324A"/>
          </a:solidFill>
          <a:ln w="12700">
            <a:solidFill>
              <a:srgbClr val="3ED6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0" y="434340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3ED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Próxima sessão: </a:t>
            </a:r>
            <a:pPr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PRD ao PR, ao vivo, com uma feature real.
</a:t>
            </a:r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5F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Tragam uma feature candidata do backlog de vocês.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FA6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 L2 e L3 do chat: essa sessão é pra vocês.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2026-08-22T07:20:56Z</dcterms:created>
  <dcterms:modified xsi:type="dcterms:W3CDTF">2026-08-22T07:20:56Z</dcterms:modified>
</cp:coreProperties>
</file>